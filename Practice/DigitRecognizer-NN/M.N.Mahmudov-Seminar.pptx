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7" r:id="rId11"/>
    <p:sldId id="266" r:id="rId12"/>
    <p:sldId id="269" r:id="rId13"/>
    <p:sldId id="268" r:id="rId14"/>
    <p:sldId id="270" r:id="rId15"/>
    <p:sldId id="271" r:id="rId16"/>
    <p:sldId id="272" r:id="rId17"/>
    <p:sldId id="273" r:id="rId18"/>
    <p:sldId id="275" r:id="rId19"/>
    <p:sldId id="274" r:id="rId20"/>
    <p:sldId id="276" r:id="rId21"/>
    <p:sldId id="277" r:id="rId22"/>
    <p:sldId id="278" r:id="rId23"/>
    <p:sldId id="285" r:id="rId24"/>
    <p:sldId id="283" r:id="rId25"/>
    <p:sldId id="280" r:id="rId26"/>
    <p:sldId id="281" r:id="rId27"/>
    <p:sldId id="282" r:id="rId28"/>
    <p:sldId id="288" r:id="rId29"/>
    <p:sldId id="286" r:id="rId30"/>
    <p:sldId id="287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6CBE2-26FB-494B-8350-68855DCCF2AA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F28CF-5D21-42E3-9EBB-0E7840AC8A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0275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C8C7A-62D2-4A11-9231-5E092E478DE9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80AE6A-C997-4EF9-985B-56EC0E957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5833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6946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746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335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070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5259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835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4743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492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925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057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260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13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2077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81144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24127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2093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27331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22505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0AE6A-C997-4EF9-985B-56EC0E957784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0953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345-2F8B-43E8-BEA3-BD672020A6A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623D-8A86-47FB-B46C-B88B733020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068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345-2F8B-43E8-BEA3-BD672020A6A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623D-8A86-47FB-B46C-B88B733020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894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345-2F8B-43E8-BEA3-BD672020A6A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623D-8A86-47FB-B46C-B88B733020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83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345-2F8B-43E8-BEA3-BD672020A6A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623D-8A86-47FB-B46C-B88B733020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737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345-2F8B-43E8-BEA3-BD672020A6A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623D-8A86-47FB-B46C-B88B733020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964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345-2F8B-43E8-BEA3-BD672020A6A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623D-8A86-47FB-B46C-B88B733020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4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345-2F8B-43E8-BEA3-BD672020A6A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623D-8A86-47FB-B46C-B88B733020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76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345-2F8B-43E8-BEA3-BD672020A6A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623D-8A86-47FB-B46C-B88B733020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6820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345-2F8B-43E8-BEA3-BD672020A6A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623D-8A86-47FB-B46C-B88B733020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0931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345-2F8B-43E8-BEA3-BD672020A6A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623D-8A86-47FB-B46C-B88B733020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149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4345-2F8B-43E8-BEA3-BD672020A6A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B623D-8A86-47FB-B46C-B88B733020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12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6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44345-2F8B-43E8-BEA3-BD672020A6AE}" type="datetimeFigureOut">
              <a:rPr lang="ru-RU" smtClean="0"/>
              <a:t>22.03.2025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B623D-8A86-47FB-B46C-B88B733020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1480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neuralnetworksanddeeplearning.com/chap1.html" TargetMode="Externa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../clipboard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../clipboard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../clipboard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../clipboard/media/image5.png"/><Relationship Id="rId5" Type="http://schemas.openxmlformats.org/officeDocument/2006/relationships/image" Target="../../clipboard/media/image4.png"/><Relationship Id="rId4" Type="http://schemas.openxmlformats.org/officeDocument/2006/relationships/image" Target="../media/image42.png"/><Relationship Id="rId9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://neuralnetworksanddeeplearning.com/chap1.html" TargetMode="Externa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ushalvivek/handwriting-recognition" TargetMode="Externa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200"/>
              <a:t>Qo</a:t>
            </a:r>
            <a:r>
              <a:rPr lang="en-US" sz="5400"/>
              <a:t>‘</a:t>
            </a:r>
            <a:r>
              <a:rPr lang="en-US" sz="5200"/>
              <a:t>lda yozilgan raqamlarni neyron tarmoqlar yordamida aniqlovchi model qurish</a:t>
            </a:r>
            <a:endParaRPr lang="ru-RU" sz="520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272594"/>
            <a:ext cx="9144000" cy="985205"/>
          </a:xfrm>
        </p:spPr>
        <p:txBody>
          <a:bodyPr>
            <a:noAutofit/>
          </a:bodyPr>
          <a:lstStyle/>
          <a:p>
            <a:r>
              <a:rPr lang="en-US" sz="3600"/>
              <a:t>Axborot texnologiyalari kafedrasi o’qituvchisi</a:t>
            </a:r>
          </a:p>
          <a:p>
            <a:r>
              <a:rPr lang="en-US" sz="3600"/>
              <a:t>Mahmudov Muhamadxon</a:t>
            </a:r>
            <a:endParaRPr lang="ru-RU" sz="36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49B4E8-0A75-4629-9961-0B1A9FBEED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5" r="15748"/>
          <a:stretch/>
        </p:blipFill>
        <p:spPr>
          <a:xfrm>
            <a:off x="0" y="0"/>
            <a:ext cx="1096731" cy="108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ADC77F-58AF-4DAF-B4B9-5D0E62E25B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96546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200"/>
              <a:t>Maqsad</a:t>
            </a:r>
            <a:endParaRPr lang="ru-RU" sz="52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/>
              <a:t>Talabalardan olingan qo‘l yozmalar yordamida raqamni aniqlovchi sun’iy intellekt modelini yaratish.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98D2610-9595-4CEE-8671-E7C0AFF013BC}" type="slidenum">
              <a:rPr lang="en-US" sz="3200"/>
              <a:t>2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3857539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200"/>
              <a:t>Vazifalar</a:t>
            </a:r>
            <a:endParaRPr lang="ru-RU" sz="52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/>
              <a:t>Ma’lumotlar to‘plamini qo‘lda shakllantirish;</a:t>
            </a:r>
          </a:p>
          <a:p>
            <a:r>
              <a:rPr lang="en-US" sz="4000"/>
              <a:t>Matematik tomonini o‘rganib chiqish;</a:t>
            </a:r>
          </a:p>
          <a:p>
            <a:r>
              <a:rPr lang="en-US" sz="4000"/>
              <a:t>Python dasturlash tilida sodda va tushunarli modelning dasturini tuzish;</a:t>
            </a:r>
          </a:p>
          <a:p>
            <a:r>
              <a:rPr lang="en-US" sz="4000"/>
              <a:t>Tayyor o‘g‘ir kutubxonalardan foydalanmaslik;</a:t>
            </a:r>
          </a:p>
          <a:p>
            <a:r>
              <a:rPr lang="en-US" sz="4000"/>
              <a:t>Tekshirib ko‘rish uchun demo dastur yaratish.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6857074D-28CA-48C5-AFAB-FD030448AF6F}" type="slidenum">
              <a:rPr lang="en-US" sz="3200"/>
              <a:t>3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1334287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200"/>
              <a:t>Ish rejasi</a:t>
            </a:r>
            <a:endParaRPr lang="ru-RU" sz="52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4000"/>
              <a:t>Ma’lumotlarni tayyorlash;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/>
              <a:t>Matematik model yaratish yoki foydalanish;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/>
              <a:t>Matematik model asosida python dasturi yaratish;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/>
              <a:t>Ma’lumotlar asosida sun’iy intellekt modelini tayyorlash;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/>
              <a:t>Dasturiy modelni tekshirish va to‘g‘irlash.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6857074D-28CA-48C5-AFAB-FD030448AF6F}" type="slidenum">
              <a:rPr lang="en-US" sz="3200"/>
              <a:t>4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3287491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/>
              <a:t>Ma’lumotlarni tayyorlash</a:t>
            </a:r>
            <a:br>
              <a:rPr lang="en-US" sz="5400"/>
            </a:br>
            <a:r>
              <a:rPr lang="en-US" sz="5400"/>
              <a:t>bosqichi</a:t>
            </a:r>
            <a:endParaRPr lang="ru-RU" sz="5400"/>
          </a:p>
        </p:txBody>
      </p:sp>
      <p:sp>
        <p:nvSpPr>
          <p:cNvPr id="3" name="Прямоугольник 2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E2AEA9B-139B-412F-98DA-A30E9C2FCE18}" type="slidenum">
              <a:rPr lang="en-US" sz="3200" smtClean="0"/>
              <a:t>5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258667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7371" y="239486"/>
            <a:ext cx="5949702" cy="1153886"/>
          </a:xfrm>
        </p:spPr>
        <p:txBody>
          <a:bodyPr>
            <a:noAutofit/>
          </a:bodyPr>
          <a:lstStyle/>
          <a:p>
            <a:r>
              <a:rPr lang="en-US" sz="4000"/>
              <a:t>Qo‘lda yozilgan raqamlarni yozish andozasi</a:t>
            </a:r>
            <a:endParaRPr lang="ru-RU" sz="4000"/>
          </a:p>
        </p:txBody>
      </p:sp>
      <p:pic>
        <p:nvPicPr>
          <p:cNvPr id="4" name="Объект 3"/>
          <p:cNvPicPr preferRelativeResize="0">
            <a:picLocks noGrp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6327073" y="0"/>
            <a:ext cx="5080000" cy="6858000"/>
          </a:xfrm>
          <a:prstGeom prst="rect">
            <a:avLst/>
          </a:prstGeom>
        </p:spPr>
      </p:pic>
      <p:sp>
        <p:nvSpPr>
          <p:cNvPr id="8" name="Текст 7"/>
          <p:cNvSpPr>
            <a:spLocks noGrp="1"/>
          </p:cNvSpPr>
          <p:nvPr>
            <p:ph type="body" sz="half" idx="2"/>
          </p:nvPr>
        </p:nvSpPr>
        <p:spPr>
          <a:xfrm>
            <a:off x="377372" y="1632858"/>
            <a:ext cx="5834742" cy="4236130"/>
          </a:xfrm>
        </p:spPr>
        <p:txBody>
          <a:bodyPr>
            <a:normAutofit/>
          </a:bodyPr>
          <a:lstStyle/>
          <a:p>
            <a:r>
              <a:rPr lang="en-US" sz="3200"/>
              <a:t>Andozada 25 ta ustun va 35 ta satr bo‘lib jami 875 ta raqamni o‘zida sig’diradi.</a:t>
            </a:r>
            <a:endParaRPr lang="ru-RU" sz="3200"/>
          </a:p>
        </p:txBody>
      </p:sp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6857074D-28CA-48C5-AFAB-FD030448AF6F}" type="slidenum">
              <a:rPr lang="en-US" sz="3200"/>
              <a:t>6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2905659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200"/>
              <a:t>Yozmalarni raqamlashtirish sxemasi</a:t>
            </a:r>
            <a:endParaRPr lang="ru-RU" sz="52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4000"/>
              <a:t>Yozmalarni to‘plash;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/>
              <a:t>Yozmalarni skaner yordamida raqamlashtirish;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/>
              <a:t>Raqamlashtirilgan yozmalardan raqamlar yozilgan jadvalni ajratib olish;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/>
              <a:t>Raqamlar jadvalidan xar bir raqamni qirqib olish;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/>
              <a:t>Sun’iy intellekt modeli uchun dataset shakllantirish.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6857074D-28CA-48C5-AFAB-FD030448AF6F}" type="slidenum">
              <a:rPr lang="en-US" sz="3200"/>
              <a:t>7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2571435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/>
              <a:t>1. Yozmalarni to‘plash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/>
              <a:t>Qo‘lda yozilgan raqamlarni 3KIDT talabalari yordamida tayyorlandi.</a:t>
            </a:r>
          </a:p>
          <a:p>
            <a:pPr marL="0" indent="0">
              <a:buNone/>
            </a:pPr>
            <a:r>
              <a:rPr lang="en-US" sz="4000"/>
              <a:t>Qo‘lda yozilgan raqamlardan iborat listlar soni 100 dan oshiq bo‘lib, 8000 dan ortiq qo‘lda yozilgan raqamlardan iborat.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6857074D-28CA-48C5-AFAB-FD030448AF6F}" type="slidenum">
              <a:rPr lang="en-US" sz="3200"/>
              <a:t>8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2846741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1473" y="0"/>
            <a:ext cx="10515600" cy="870857"/>
          </a:xfrm>
        </p:spPr>
        <p:txBody>
          <a:bodyPr>
            <a:noAutofit/>
          </a:bodyPr>
          <a:lstStyle/>
          <a:p>
            <a:r>
              <a:rPr lang="en-US" sz="4000"/>
              <a:t>2. Yozmalarni skaner yordamida raqamlashtirish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3813"/>
            <a:ext cx="4073800" cy="581787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5142" y="870856"/>
            <a:ext cx="4083201" cy="593083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8965" y="1092784"/>
            <a:ext cx="3920571" cy="5599933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6857074D-28CA-48C5-AFAB-FD030448AF6F}" type="slidenum">
              <a:rPr lang="en-US" sz="3200"/>
              <a:t>9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2361637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8300" y="0"/>
            <a:ext cx="11431236" cy="1092784"/>
          </a:xfrm>
        </p:spPr>
        <p:txBody>
          <a:bodyPr>
            <a:noAutofit/>
          </a:bodyPr>
          <a:lstStyle/>
          <a:p>
            <a:pPr algn="ctr"/>
            <a:r>
              <a:rPr lang="en-US" sz="3600"/>
              <a:t>3. Raqamlashtirilgan yozmalardan raqamlar yozilgan jadvalni ajratib olish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6857074D-28CA-48C5-AFAB-FD030448AF6F}" type="slidenum">
              <a:rPr lang="en-US" sz="3200"/>
              <a:t>10</a:t>
            </a:fld>
            <a:endParaRPr lang="ru-RU" sz="320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164"/>
          <a:stretch/>
        </p:blipFill>
        <p:spPr>
          <a:xfrm>
            <a:off x="1796068" y="1219200"/>
            <a:ext cx="8575699" cy="38608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88017" y="5426854"/>
            <a:ext cx="10591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/>
              <a:t>Yozmalarni skaner qilingan vaqtda xar bir yozmadagi raqamlar jadvali xar xil xolatda raqamlashtirilganligi muammosi</a:t>
            </a:r>
          </a:p>
        </p:txBody>
      </p:sp>
    </p:spTree>
    <p:extLst>
      <p:ext uri="{BB962C8B-B14F-4D97-AF65-F5344CB8AC3E}">
        <p14:creationId xmlns:p14="http://schemas.microsoft.com/office/powerpoint/2010/main" val="3834857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6857074D-28CA-48C5-AFAB-FD030448AF6F}" type="slidenum">
              <a:rPr lang="en-US" sz="3200"/>
              <a:t>11</a:t>
            </a:fld>
            <a:endParaRPr lang="ru-RU" sz="32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420698" y="-1420698"/>
            <a:ext cx="6861405" cy="970280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956800" y="419100"/>
            <a:ext cx="2235200" cy="4025899"/>
          </a:xfrm>
        </p:spPr>
        <p:txBody>
          <a:bodyPr vert="vert">
            <a:noAutofit/>
          </a:bodyPr>
          <a:lstStyle/>
          <a:p>
            <a:r>
              <a:rPr lang="en-US" sz="4000"/>
              <a:t>Jadvlarlar xar xiligini yechimi</a:t>
            </a:r>
          </a:p>
        </p:txBody>
      </p:sp>
    </p:spTree>
    <p:extLst>
      <p:ext uri="{BB962C8B-B14F-4D97-AF65-F5344CB8AC3E}">
        <p14:creationId xmlns:p14="http://schemas.microsoft.com/office/powerpoint/2010/main" val="1489049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6857074D-28CA-48C5-AFAB-FD030448AF6F}" type="slidenum">
              <a:rPr lang="en-US" sz="3200"/>
              <a:t>12</a:t>
            </a:fld>
            <a:endParaRPr lang="ru-RU" sz="320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5427" y="317500"/>
            <a:ext cx="10058400" cy="750761"/>
          </a:xfrm>
        </p:spPr>
        <p:txBody>
          <a:bodyPr vert="horz">
            <a:noAutofit/>
          </a:bodyPr>
          <a:lstStyle/>
          <a:p>
            <a:r>
              <a:rPr lang="en-US" sz="4000"/>
              <a:t>Jadval burchaklarini toppish algoritmi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27" y="3211266"/>
            <a:ext cx="9503758" cy="284846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885" y="1527292"/>
            <a:ext cx="8964215" cy="132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81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6857074D-28CA-48C5-AFAB-FD030448AF6F}" type="slidenum">
              <a:rPr lang="en-US" sz="3200"/>
              <a:t>13</a:t>
            </a:fld>
            <a:endParaRPr lang="ru-RU" sz="320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85216" y="419101"/>
            <a:ext cx="5946384" cy="1333500"/>
          </a:xfrm>
        </p:spPr>
        <p:txBody>
          <a:bodyPr vert="horz">
            <a:noAutofit/>
          </a:bodyPr>
          <a:lstStyle/>
          <a:p>
            <a:r>
              <a:rPr lang="en-US" sz="4000"/>
              <a:t>Raqamlar jadvalini qirqib olingan holati.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60" y="419100"/>
            <a:ext cx="4437240" cy="614387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216" y="1965557"/>
            <a:ext cx="6266667" cy="3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22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6857074D-28CA-48C5-AFAB-FD030448AF6F}" type="slidenum">
              <a:rPr lang="en-US" sz="3200"/>
              <a:t>14</a:t>
            </a:fld>
            <a:endParaRPr lang="ru-RU" sz="320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85216" y="177980"/>
            <a:ext cx="5946384" cy="1546456"/>
          </a:xfrm>
        </p:spPr>
        <p:txBody>
          <a:bodyPr vert="horz">
            <a:noAutofit/>
          </a:bodyPr>
          <a:lstStyle/>
          <a:p>
            <a:r>
              <a:rPr lang="en-US" sz="4000"/>
              <a:t>Raqamlar jadvalini oq-qora shaklda tayyorlash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953000" cy="6858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51" y="4137114"/>
            <a:ext cx="6905649" cy="16159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54601" y="2133421"/>
                <a:ext cx="7137400" cy="7678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)=0.2126∗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+0.7152∗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+0.0722∗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</m:oMath>
                  </m:oMathPara>
                </a14:m>
                <a:endParaRPr lang="en-US" sz="2400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)−255|</m:t>
                      </m:r>
                    </m:oMath>
                  </m:oMathPara>
                </a14:m>
                <a:endParaRPr lang="en-US" sz="2400" b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601" y="2133421"/>
                <a:ext cx="7137400" cy="767839"/>
              </a:xfrm>
              <a:prstGeom prst="rect">
                <a:avLst/>
              </a:prstGeom>
              <a:blipFill rotWithShape="0">
                <a:blip r:embed="rId5"/>
                <a:stretch>
                  <a:fillRect l="-512" b="-1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1500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6857074D-28CA-48C5-AFAB-FD030448AF6F}" type="slidenum">
              <a:rPr lang="en-US" sz="3200"/>
              <a:t>15</a:t>
            </a:fld>
            <a:endParaRPr lang="ru-RU" sz="320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69" y="746872"/>
            <a:ext cx="1520414" cy="152041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932" y="1154507"/>
            <a:ext cx="1544342" cy="154434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69" y="4784135"/>
            <a:ext cx="1377950" cy="137795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69" y="2760573"/>
            <a:ext cx="1676400" cy="167640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624" y="3070319"/>
            <a:ext cx="1390650" cy="1390650"/>
          </a:xfrm>
          <a:prstGeom prst="rect">
            <a:avLst/>
          </a:prstGeom>
        </p:spPr>
      </p:pic>
      <p:sp>
        <p:nvSpPr>
          <p:cNvPr id="13" name="Заголовок 1"/>
          <p:cNvSpPr txBox="1">
            <a:spLocks/>
          </p:cNvSpPr>
          <p:nvPr/>
        </p:nvSpPr>
        <p:spPr>
          <a:xfrm>
            <a:off x="368300" y="0"/>
            <a:ext cx="11431236" cy="10927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/>
              <a:t>4. Raqamlar jadvalidan xar bir raqamni qirqib olish;</a:t>
            </a:r>
          </a:p>
          <a:p>
            <a:pPr algn="ctr"/>
            <a:r>
              <a:rPr lang="en-US" sz="3600"/>
              <a:t>(28x28 xar bir rasm o‘lchamda)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524" y="4784135"/>
            <a:ext cx="1212850" cy="121285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4619" y="1335328"/>
            <a:ext cx="6282581" cy="489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85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6857074D-28CA-48C5-AFAB-FD030448AF6F}" type="slidenum">
              <a:rPr lang="en-US" sz="3200"/>
              <a:t>16</a:t>
            </a:fld>
            <a:endParaRPr lang="ru-RU" sz="3200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368300" y="0"/>
            <a:ext cx="11431236" cy="10927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5. Sun’iy intellekt modeli uchun dataset shakllantirish.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369" y="3559368"/>
            <a:ext cx="8614333" cy="28249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68300" y="1406781"/>
                <a:ext cx="4756687" cy="1488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sz="480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1406781"/>
                <a:ext cx="4756687" cy="148899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/>
              <p:cNvSpPr/>
              <p:nvPr/>
            </p:nvSpPr>
            <p:spPr>
              <a:xfrm>
                <a:off x="5703536" y="1306379"/>
                <a:ext cx="6096000" cy="1938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>
                    <a:latin typeface="+mj-lt"/>
                  </a:rPr>
                  <a:t> —</a:t>
                </a:r>
                <a:r>
                  <a:rPr lang="en-US" sz="2400">
                    <a:latin typeface="+mj-lt"/>
                  </a:rPr>
                  <a:t>asl vektor elementi qiymati</a:t>
                </a:r>
                <a:r>
                  <a:rPr lang="ru-RU" sz="2400">
                    <a:latin typeface="+mj-lt"/>
                  </a:rPr>
                  <a:t>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ru-RU" sz="2400">
                    <a:latin typeface="+mj-lt"/>
                  </a:rPr>
                  <a:t>— </a:t>
                </a:r>
                <a:r>
                  <a:rPr lang="en-US" sz="2400">
                    <a:latin typeface="+mj-lt"/>
                  </a:rPr>
                  <a:t>vektordagi </a:t>
                </a:r>
                <a:r>
                  <a:rPr lang="ru-RU" sz="2400">
                    <a:latin typeface="+mj-lt"/>
                  </a:rPr>
                  <a:t>eng kichik qiymat,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ru-RU" sz="2400">
                    <a:latin typeface="+mj-lt"/>
                  </a:rPr>
                  <a:t>— </a:t>
                </a:r>
                <a:r>
                  <a:rPr lang="en-US" sz="2400">
                    <a:latin typeface="+mj-lt"/>
                  </a:rPr>
                  <a:t>vektordagi </a:t>
                </a:r>
                <a:r>
                  <a:rPr lang="ru-RU" sz="2400">
                    <a:latin typeface="+mj-lt"/>
                  </a:rPr>
                  <a:t>eng katta qiymat,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ru-RU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>
                    <a:latin typeface="+mj-lt"/>
                  </a:rPr>
                  <a:t>— normallashgan</a:t>
                </a:r>
                <a:r>
                  <a:rPr lang="en-US" sz="2400">
                    <a:latin typeface="+mj-lt"/>
                  </a:rPr>
                  <a:t> vektor elementi qiymati</a:t>
                </a:r>
                <a:r>
                  <a:rPr lang="ru-RU" sz="2400">
                    <a:latin typeface="+mj-lt"/>
                  </a:rPr>
                  <a:t> qiymat ([0,1] oraliqda bo‘ladi)</a:t>
                </a:r>
                <a:r>
                  <a:rPr lang="en-US" sz="2400">
                    <a:latin typeface="+mj-lt"/>
                  </a:rPr>
                  <a:t>.</a:t>
                </a:r>
                <a:endParaRPr lang="ru-RU" sz="2400">
                  <a:latin typeface="+mj-lt"/>
                </a:endParaRPr>
              </a:p>
            </p:txBody>
          </p:sp>
        </mc:Choice>
        <mc:Fallback xmlns="">
          <p:sp>
            <p:nvSpPr>
              <p:cNvPr id="19" name="Прямоугольник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536" y="1306379"/>
                <a:ext cx="6096000" cy="1938992"/>
              </a:xfrm>
              <a:prstGeom prst="rect">
                <a:avLst/>
              </a:prstGeom>
              <a:blipFill rotWithShape="0">
                <a:blip r:embed="rId5"/>
                <a:stretch>
                  <a:fillRect l="-1600" t="-2516" b="-62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1309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6857074D-28CA-48C5-AFAB-FD030448AF6F}" type="slidenum">
              <a:rPr lang="en-US" sz="3200"/>
              <a:t>17</a:t>
            </a:fld>
            <a:endParaRPr lang="ru-RU" sz="3200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368300" y="0"/>
            <a:ext cx="11431236" cy="10927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5. Sun’iy intellekt modeli uchun dataset shakllantirish.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368299" y="1149953"/>
            <a:ext cx="1150927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latin typeface="+mj-lt"/>
              </a:rPr>
              <a:t>Dasturda tayyorlangan dataset shakli quyidagicha gzip arxiv formatda pickle kutubxonasi yordamida saqlandi:</a:t>
            </a:r>
          </a:p>
          <a:p>
            <a:r>
              <a:rPr lang="en-US" sz="2400">
                <a:latin typeface="Consolas" panose="020B0609020204030204" pitchFamily="49" charset="0"/>
              </a:rPr>
              <a:t>(train[images, labels], val[images, labels], test[images, labels])</a:t>
            </a:r>
          </a:p>
          <a:p>
            <a:r>
              <a:rPr lang="en-US" sz="2400">
                <a:latin typeface="+mj-lt"/>
              </a:rPr>
              <a:t>Bu yerda, </a:t>
            </a:r>
            <a:r>
              <a:rPr lang="en-US" sz="2400">
                <a:latin typeface="Consolas" panose="020B0609020204030204" pitchFamily="49" charset="0"/>
              </a:rPr>
              <a:t>train, val, test </a:t>
            </a:r>
            <a:r>
              <a:rPr lang="en-US" sz="2400">
                <a:latin typeface="+mj-lt"/>
              </a:rPr>
              <a:t>raqamlarni 3 xil ro’yhatda saqlash (o‘qitish, nazorat va test uchun), </a:t>
            </a:r>
            <a:r>
              <a:rPr lang="en-US" sz="2400">
                <a:latin typeface="Consolas" panose="020B0609020204030204" pitchFamily="49" charset="0"/>
              </a:rPr>
              <a:t>images – </a:t>
            </a:r>
            <a:r>
              <a:rPr lang="en-US" sz="2400">
                <a:latin typeface="+mj-lt"/>
              </a:rPr>
              <a:t>784 ta [0; 1] qiymatlar ega vektorlar to‘plami, </a:t>
            </a:r>
            <a:r>
              <a:rPr lang="en-US" sz="2400">
                <a:latin typeface="Consolas" panose="020B0609020204030204" pitchFamily="49" charset="0"/>
              </a:rPr>
              <a:t>labels –</a:t>
            </a:r>
            <a:r>
              <a:rPr lang="en-US" sz="2400"/>
              <a:t> 0 dan 9 gacha bo‘lgan qiymatlar ega vektorlar to‘plami.</a:t>
            </a:r>
            <a:endParaRPr lang="ru-RU" sz="2400">
              <a:latin typeface="+mj-lt"/>
            </a:endParaRPr>
          </a:p>
          <a:p>
            <a:endParaRPr lang="en-US" sz="240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99" y="5514772"/>
            <a:ext cx="5482522" cy="97467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222" y="3827609"/>
            <a:ext cx="3852414" cy="155578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4471" y="3165837"/>
            <a:ext cx="4725065" cy="43235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299" y="3703570"/>
            <a:ext cx="7617630" cy="170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054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6857074D-28CA-48C5-AFAB-FD030448AF6F}" type="slidenum">
              <a:rPr lang="en-US" sz="3200"/>
              <a:t>18</a:t>
            </a:fld>
            <a:endParaRPr lang="ru-RU" sz="3200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368300" y="0"/>
            <a:ext cx="11431236" cy="8662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Yuqoridagi list ma’lumotlar to‘plamining issiqlik xaritasi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00" y="987118"/>
            <a:ext cx="10601837" cy="565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544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6857074D-28CA-48C5-AFAB-FD030448AF6F}" type="slidenum">
              <a:rPr lang="en-US" sz="3200"/>
              <a:t>19</a:t>
            </a:fld>
            <a:endParaRPr lang="ru-RU" sz="3200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368300" y="0"/>
            <a:ext cx="11431236" cy="8758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MNIST ma’lumotlar to‘plamining issiqlik xaritasi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00" y="875898"/>
            <a:ext cx="10951009" cy="584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59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6857074D-28CA-48C5-AFAB-FD030448AF6F}" type="slidenum">
              <a:rPr lang="en-US" sz="3200"/>
              <a:t>20</a:t>
            </a:fld>
            <a:endParaRPr lang="ru-RU" sz="3200"/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368300" y="0"/>
            <a:ext cx="11431236" cy="8758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3KIDT ma’lumotlar to‘plamining issiqlik xaritasi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758E6C-8758-4507-83E5-5DBA2B640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00" y="875897"/>
            <a:ext cx="10849047" cy="578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23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03203"/>
          </a:xfrm>
        </p:spPr>
        <p:txBody>
          <a:bodyPr>
            <a:normAutofit/>
          </a:bodyPr>
          <a:lstStyle/>
          <a:p>
            <a:r>
              <a:rPr lang="en-US" sz="5400"/>
              <a:t>Matematik model yaratish yoki foydalanish</a:t>
            </a:r>
            <a:br>
              <a:rPr lang="en-US" sz="5400"/>
            </a:br>
            <a:r>
              <a:rPr lang="en-US" sz="5400"/>
              <a:t>bosqichi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E2AEA9B-139B-412F-98DA-A30E9C2FCE18}" type="slidenum">
              <a:rPr lang="en-US" sz="3200" smtClean="0"/>
              <a:t>21</a:t>
            </a:fld>
            <a:endParaRPr lang="ru-RU" sz="3200"/>
          </a:p>
        </p:txBody>
      </p:sp>
      <p:sp>
        <p:nvSpPr>
          <p:cNvPr id="5" name="TextBox 4"/>
          <p:cNvSpPr txBox="1"/>
          <p:nvPr/>
        </p:nvSpPr>
        <p:spPr>
          <a:xfrm>
            <a:off x="317633" y="6279209"/>
            <a:ext cx="10171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Men ko‘chirdim, manba (</a:t>
            </a:r>
            <a:r>
              <a:rPr lang="en-US" sz="2400">
                <a:hlinkClick r:id="rId2"/>
              </a:rPr>
              <a:t>http://neuralnetworksanddeeplearning.com/chap1.html</a:t>
            </a:r>
            <a:r>
              <a:rPr lang="en-US" sz="2400"/>
              <a:t>)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125631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1473" y="1"/>
            <a:ext cx="10515600" cy="1039528"/>
          </a:xfrm>
        </p:spPr>
        <p:txBody>
          <a:bodyPr>
            <a:normAutofit/>
          </a:bodyPr>
          <a:lstStyle/>
          <a:p>
            <a:r>
              <a:rPr lang="en-US" sz="5400"/>
              <a:t>Perseptron tuzilishi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E2AEA9B-139B-412F-98DA-A30E9C2FCE18}" type="slidenum">
              <a:rPr lang="en-US" sz="3200" smtClean="0"/>
              <a:t>22</a:t>
            </a:fld>
            <a:endParaRPr lang="ru-RU" sz="32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59" y="1148865"/>
            <a:ext cx="9032173" cy="54799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43940" y="368768"/>
                <a:ext cx="4678653" cy="13415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3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sz="36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3600" b="1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940" y="368768"/>
                <a:ext cx="4678653" cy="134152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2823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946098-A156-4256-B586-F691DFC3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373" y="167780"/>
            <a:ext cx="9440214" cy="879363"/>
          </a:xfrm>
        </p:spPr>
        <p:txBody>
          <a:bodyPr anchor="ctr">
            <a:noAutofit/>
          </a:bodyPr>
          <a:lstStyle/>
          <a:p>
            <a:pPr algn="ctr"/>
            <a:r>
              <a:rPr lang="en-US" sz="3600"/>
              <a:t>Sigmoid funksiya</a:t>
            </a:r>
            <a:endParaRPr lang="ru-RU" sz="360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D1B5618-5D44-4FD8-9DBC-96CE6BCC34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737" y="67112"/>
            <a:ext cx="1080000" cy="108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4900958-2625-4207-8E14-66C49091BF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5" r="15748"/>
          <a:stretch/>
        </p:blipFill>
        <p:spPr>
          <a:xfrm>
            <a:off x="191263" y="167780"/>
            <a:ext cx="1096731" cy="108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15588" y="1440135"/>
                <a:ext cx="5130351" cy="4127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ea typeface="Cambria Math" panose="02040503050406030204" pitchFamily="18" charset="0"/>
                  </a:rPr>
                  <a:t>Sigmoid funksiya deb,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ru-RU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d>
                      <m:dPr>
                        <m:ctrlP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3200" b="1"/>
                  <a:t> </a:t>
                </a:r>
              </a:p>
              <a:p>
                <a:pPr algn="just"/>
                <a:r>
                  <a:rPr lang="en-US" sz="2400"/>
                  <a:t>ushbu funksiyani aytiladi. Unda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sz="2400" b="1"/>
                  <a:t> </a:t>
                </a:r>
                <a:r>
                  <a:rPr lang="en-US" sz="2400"/>
                  <a:t>– sigmoid funksiya kiruvchi o’zgaruvchisi bo’lsa, bu esa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𝒛</m:t>
                        </m:r>
                      </m:e>
                    </m:d>
                  </m:oMath>
                </a14:m>
                <a:r>
                  <a:rPr lang="en-US" sz="2400"/>
                  <a:t> funksiyadir.</a:t>
                </a:r>
              </a:p>
              <a:p>
                <a:endParaRPr lang="en-US" sz="2400"/>
              </a:p>
              <a:p>
                <a:pPr algn="just"/>
                <a:r>
                  <a:rPr lang="en-US" sz="2400"/>
                  <a:t>Ushbu funksiyaning maqsadi shundan iboratki qanday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sz="2400" b="1"/>
                  <a:t> </a:t>
                </a:r>
                <a:r>
                  <a:rPr lang="en-US" sz="2400"/>
                  <a:t>qiymat berilishidan qat’iy nazar funksiya javobi doim (0; 1) oraliqda yotadi.</a:t>
                </a:r>
                <a:endParaRPr lang="ru-RU" sz="2400" b="1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588" y="1440135"/>
                <a:ext cx="5130351" cy="4127797"/>
              </a:xfrm>
              <a:prstGeom prst="rect">
                <a:avLst/>
              </a:prstGeom>
              <a:blipFill rotWithShape="0">
                <a:blip r:embed="rId4"/>
                <a:stretch>
                  <a:fillRect l="-1902" t="-1182" r="-1784" b="-25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4888"/>
          <p:cNvPicPr>
            <a:picLocks noGrp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648241" y="1544860"/>
            <a:ext cx="6352496" cy="39183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81805" y="1774661"/>
            <a:ext cx="328536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/>
              <a:t>Sigmoid funksiya grafigi</a:t>
            </a:r>
            <a:endParaRPr lang="ru-RU" sz="2400"/>
          </a:p>
        </p:txBody>
      </p:sp>
      <p:sp>
        <p:nvSpPr>
          <p:cNvPr id="13" name="Прямоугольник 12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8DDAEAA-A631-4989-B164-C8DB6A9CC9F8}" type="slidenum">
              <a:rPr lang="ru-RU" sz="3200" smtClean="0"/>
              <a:t>23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31741876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34946098-A156-4256-B586-F691DFC3195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375892" y="543166"/>
                <a:ext cx="9440214" cy="879363"/>
              </a:xfrm>
            </p:spPr>
            <p:txBody>
              <a:bodyPr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6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ru-RU" sz="360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4946098-A156-4256-B586-F691DFC319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75892" y="543166"/>
                <a:ext cx="9440214" cy="879363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A009DF2F-FD19-4BE1-9A89-A444C2DDF535}"/>
              </a:ext>
            </a:extLst>
          </p:cNvPr>
          <p:cNvSpPr txBox="1"/>
          <p:nvPr/>
        </p:nvSpPr>
        <p:spPr>
          <a:xfrm>
            <a:off x="61803" y="6421556"/>
            <a:ext cx="141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 – ma'ruza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557539-1A35-4784-A3E2-80EF1CF86081}"/>
              </a:ext>
            </a:extLst>
          </p:cNvPr>
          <p:cNvSpPr txBox="1"/>
          <p:nvPr/>
        </p:nvSpPr>
        <p:spPr>
          <a:xfrm>
            <a:off x="11667545" y="6421556"/>
            <a:ext cx="462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12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7E6F21-7459-4C19-A20E-BE9536E64EC6}"/>
              </a:ext>
            </a:extLst>
          </p:cNvPr>
          <p:cNvSpPr txBox="1"/>
          <p:nvPr/>
        </p:nvSpPr>
        <p:spPr>
          <a:xfrm>
            <a:off x="1480523" y="6421556"/>
            <a:ext cx="923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Mulohaza. Ifodalar mantiqlari. Chiziqli regressiya algoritmi.</a:t>
            </a:r>
            <a:endParaRPr lang="ru-RU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b="0"/>
                  <a:t>Ushbu modelda o’zgaruvchilar vector shaklida ham qarash mumkin ya’ni: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begChr m:val="["/>
                        <m:endChr m:val="]"/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begChr m:val="["/>
                        <m:endChr m:val="]"/>
                        <m:ctrlP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d>
                      <m:dPr>
                        <m:begChr m:val="["/>
                        <m:endChr m:val="]"/>
                        <m:ctrlP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2800" b="0"/>
              </a:p>
              <a:p>
                <a:r>
                  <a:rPr lang="en-US" sz="2800"/>
                  <a:t>Boshqacha qilib aytgandan modelda berilgan funksiyada skalyar, vektor yoki matrissa ko’rinishidagi ma’lumotlar bo’lishi mumkin. Xar bir o‘zgaruvchi </a:t>
                </a:r>
                <a:r>
                  <a:rPr lang="en-US" sz="2800" b="1"/>
                  <a:t>sun’iy intellekt parametri </a:t>
                </a:r>
                <a:r>
                  <a:rPr lang="en-US" sz="2800"/>
                  <a:t>hisoblanadi.</a:t>
                </a:r>
                <a:endParaRPr lang="en-US" sz="2800" b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5"/>
                <a:stretch>
                  <a:fillRect l="-1212" t="-27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E0704F5-A4CC-42D5-817D-1AA04795E45B}" type="slidenum">
              <a:rPr lang="ru-RU" sz="3200" smtClean="0"/>
              <a:t>24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2833283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tx1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1472000" y="6135640"/>
            <a:ext cx="720000" cy="72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9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161" y="315169"/>
            <a:ext cx="9423679" cy="6227663"/>
          </a:xfrm>
        </p:spPr>
      </p:pic>
      <p:sp>
        <p:nvSpPr>
          <p:cNvPr id="7" name="Скругленный прямоугольник 6"/>
          <p:cNvSpPr/>
          <p:nvPr/>
        </p:nvSpPr>
        <p:spPr>
          <a:xfrm>
            <a:off x="1295400" y="1847850"/>
            <a:ext cx="1009650" cy="4694983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048625" y="514350"/>
            <a:ext cx="1009650" cy="5621290"/>
          </a:xfrm>
          <a:prstGeom prst="round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2781300" y="447674"/>
            <a:ext cx="4886325" cy="5838825"/>
          </a:xfrm>
          <a:prstGeom prst="roundRect">
            <a:avLst>
              <a:gd name="adj" fmla="val 6517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9286875" y="2419350"/>
            <a:ext cx="1866900" cy="1809750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210393" y="1092425"/>
            <a:ext cx="1988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50"/>
                </a:solidFill>
              </a:rPr>
              <a:t>KIRISH</a:t>
            </a:r>
          </a:p>
          <a:p>
            <a:r>
              <a:rPr lang="en-US">
                <a:solidFill>
                  <a:srgbClr val="00B050"/>
                </a:solidFill>
              </a:rPr>
              <a:t>PARAMETRLARI</a:t>
            </a:r>
            <a:endParaRPr lang="ru-RU">
              <a:solidFill>
                <a:srgbClr val="00B05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26302" y="1044094"/>
            <a:ext cx="1988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70C0"/>
                </a:solidFill>
              </a:rPr>
              <a:t>CHIQISH</a:t>
            </a:r>
          </a:p>
          <a:p>
            <a:r>
              <a:rPr lang="en-US">
                <a:solidFill>
                  <a:srgbClr val="0070C0"/>
                </a:solidFill>
              </a:rPr>
              <a:t>PARAMETRLARI</a:t>
            </a:r>
            <a:endParaRPr lang="ru-RU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97963" y="6310974"/>
            <a:ext cx="325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YASHIRIN PARAMETRLARI</a:t>
            </a:r>
            <a:endParaRPr lang="ru-RU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36872" y="4357860"/>
            <a:ext cx="15472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FF00"/>
                </a:solidFill>
              </a:rPr>
              <a:t>NATIJA</a:t>
            </a:r>
          </a:p>
          <a:p>
            <a:r>
              <a:rPr lang="en-US">
                <a:solidFill>
                  <a:srgbClr val="FFFF00"/>
                </a:solidFill>
              </a:rPr>
              <a:t>YOKI</a:t>
            </a:r>
          </a:p>
          <a:p>
            <a:r>
              <a:rPr lang="en-US">
                <a:solidFill>
                  <a:srgbClr val="FFFF00"/>
                </a:solidFill>
              </a:rPr>
              <a:t>XATOLIK</a:t>
            </a:r>
          </a:p>
          <a:p>
            <a:r>
              <a:rPr lang="en-US">
                <a:solidFill>
                  <a:srgbClr val="FFFF00"/>
                </a:solidFill>
              </a:rPr>
              <a:t>EHTIMOLIGI</a:t>
            </a:r>
            <a:endParaRPr lang="ru-RU">
              <a:solidFill>
                <a:srgbClr val="FFFF00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3A3F7A6-F2DB-4CCB-9305-BFCF9C3CF3BF}" type="slidenum">
              <a:rPr lang="ru-RU" sz="3200" smtClean="0"/>
              <a:t>25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2318469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tx1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1472000" y="6135640"/>
            <a:ext cx="720000" cy="72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10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356" y="152400"/>
            <a:ext cx="10353762" cy="1103968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bg1"/>
                </a:solidFill>
              </a:rPr>
              <a:t>NEYRON MODELDAGI O’ZGARUVCHI VA FUNKSIYALAR BELGILANISHLARI</a:t>
            </a:r>
            <a:endParaRPr lang="ru-RU">
              <a:solidFill>
                <a:schemeClr val="bg1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237" y="1455950"/>
            <a:ext cx="5781102" cy="3820456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15937" y="1455950"/>
                <a:ext cx="5575300" cy="4582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i="1">
                    <a:solidFill>
                      <a:schemeClr val="bg1"/>
                    </a:solidFill>
                  </a:rPr>
                  <a:t>- bu matrissalar,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acc>
                      <m:accPr>
                        <m:chr m:val="̅"/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000" i="1">
                    <a:solidFill>
                      <a:schemeClr val="bg1"/>
                    </a:solidFill>
                  </a:rPr>
                  <a:t> </a:t>
                </a:r>
                <a:r>
                  <a:rPr lang="en-US" sz="2000">
                    <a:solidFill>
                      <a:schemeClr val="bg1"/>
                    </a:solidFill>
                  </a:rPr>
                  <a:t>- bu vektorlar,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>
                    <a:solidFill>
                      <a:schemeClr val="bg1"/>
                    </a:solidFill>
                  </a:rPr>
                  <a:t> - bu elementlar,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r>
                  <a:rPr lang="en-US" sz="2000">
                    <a:solidFill>
                      <a:schemeClr val="bg1"/>
                    </a:solidFill>
                  </a:rPr>
                  <a:t> – bu skalyar qiymatlar;</a:t>
                </a:r>
              </a:p>
              <a:p>
                <a:pPr marL="285750" indent="-285750"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= 7, </m:t>
                    </m:r>
                    <m:r>
                      <a:rPr 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= 3</m:t>
                    </m:r>
                  </m:oMath>
                </a14:m>
                <a:r>
                  <a:rPr lang="en-US" sz="2000">
                    <a:solidFill>
                      <a:schemeClr val="bg1"/>
                    </a:solidFill>
                  </a:rPr>
                  <a:t>;</a:t>
                </a:r>
              </a:p>
              <a:p>
                <a:pPr marL="285750" indent="-285750"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>
                    <a:solidFill>
                      <a:schemeClr val="bg1"/>
                    </a:solidFill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000">
                    <a:solidFill>
                      <a:schemeClr val="bg1"/>
                    </a:solidFill>
                  </a:rPr>
                  <a:t>;</a:t>
                </a:r>
              </a:p>
              <a:p>
                <a:pPr marL="285750" indent="-285750"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>
                    <a:solidFill>
                      <a:schemeClr val="bg1"/>
                    </a:solidFill>
                  </a:rPr>
                  <a:t>;</a:t>
                </a:r>
              </a:p>
              <a:p>
                <a:pPr marL="285750" indent="-285750"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0, 1, 2, …, 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6. </m:t>
                    </m:r>
                    <m:r>
                      <m:rPr>
                        <m:nor/>
                      </m:rPr>
                      <a:rPr lang="en-US" sz="2000" smtClean="0">
                        <a:solidFill>
                          <a:schemeClr val="bg1"/>
                        </a:solidFill>
                      </a:rPr>
                      <m:t>[0:</m:t>
                    </m:r>
                    <m:r>
                      <m:rPr>
                        <m:nor/>
                      </m:rPr>
                      <a:rPr lang="en-US" sz="2000" smtClean="0">
                        <a:solidFill>
                          <a:schemeClr val="bg1"/>
                        </a:solidFill>
                      </a:rPr>
                      <m:t>m</m:t>
                    </m:r>
                    <m:r>
                      <m:rPr>
                        <m:nor/>
                      </m:rPr>
                      <a:rPr lang="en-US" sz="2000" smtClean="0">
                        <a:solidFill>
                          <a:schemeClr val="bg1"/>
                        </a:solidFill>
                      </a:rPr>
                      <m:t>)</m:t>
                    </m:r>
                  </m:oMath>
                </a14:m>
                <a:r>
                  <a:rPr lang="en-US" sz="2000">
                    <a:solidFill>
                      <a:schemeClr val="bg1"/>
                    </a:solidFill>
                  </a:rPr>
                  <a:t>;</a:t>
                </a:r>
              </a:p>
              <a:p>
                <a:pPr marL="285750" indent="-285750"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̅"/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>
                    <a:solidFill>
                      <a:schemeClr val="bg1"/>
                    </a:solidFill>
                  </a:rPr>
                  <a:t>;</a:t>
                </a:r>
              </a:p>
              <a:p>
                <a:pPr marL="285750" indent="-285750"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>
                    <a:solidFill>
                      <a:schemeClr val="bg1"/>
                    </a:solidFill>
                  </a:rPr>
                  <a:t>;</a:t>
                </a:r>
              </a:p>
              <a:p>
                <a:pPr marL="285750" indent="-285750"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̅"/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>
                    <a:solidFill>
                      <a:schemeClr val="bg1"/>
                    </a:solidFill>
                  </a:rPr>
                  <a:t>;</a:t>
                </a:r>
              </a:p>
              <a:p>
                <a:pPr marL="285750" indent="-285750"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∈(0:1)</m:t>
                    </m:r>
                  </m:oMath>
                </a14:m>
                <a:r>
                  <a:rPr lang="en-US" sz="2000">
                    <a:solidFill>
                      <a:schemeClr val="bg1"/>
                    </a:solidFill>
                  </a:rPr>
                  <a:t>;</a:t>
                </a:r>
              </a:p>
              <a:p>
                <a:pPr marL="285750" indent="-285750"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37" y="1455950"/>
                <a:ext cx="5575300" cy="4582665"/>
              </a:xfrm>
              <a:prstGeom prst="rect">
                <a:avLst/>
              </a:prstGeom>
              <a:blipFill rotWithShape="0">
                <a:blip r:embed="rId3"/>
                <a:stretch>
                  <a:fillRect l="-985" t="-798" b="-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3EB15DC-91D5-4B45-A0CA-8543F88023A9}" type="slidenum">
              <a:rPr lang="ru-RU" sz="3200" smtClean="0"/>
              <a:t>26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3025843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>
              <a:lumMod val="10000"/>
            </a:schemeClr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1472000" y="6135640"/>
            <a:ext cx="720000" cy="720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13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914356" y="128124"/>
            <a:ext cx="10353762" cy="103712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NEYRON MODEL TUZILISHI</a:t>
            </a:r>
            <a:endParaRPr lang="ru-RU">
              <a:solidFill>
                <a:schemeClr val="bg1"/>
              </a:solidFill>
            </a:endParaRPr>
          </a:p>
        </p:txBody>
      </p:sp>
      <p:pic>
        <p:nvPicPr>
          <p:cNvPr id="11" name="Объект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412" y="1084333"/>
            <a:ext cx="10167915" cy="4680000"/>
          </a:xfrm>
        </p:spPr>
      </p:pic>
      <p:sp>
        <p:nvSpPr>
          <p:cNvPr id="18" name="Полилиния 17"/>
          <p:cNvSpPr/>
          <p:nvPr/>
        </p:nvSpPr>
        <p:spPr>
          <a:xfrm>
            <a:off x="1003412" y="1084333"/>
            <a:ext cx="10236425" cy="3293458"/>
          </a:xfrm>
          <a:custGeom>
            <a:avLst/>
            <a:gdLst>
              <a:gd name="connsiteX0" fmla="*/ 8092 w 10236425"/>
              <a:gd name="connsiteY0" fmla="*/ 0 h 3220630"/>
              <a:gd name="connsiteX1" fmla="*/ 10236425 w 10236425"/>
              <a:gd name="connsiteY1" fmla="*/ 40460 h 3220630"/>
              <a:gd name="connsiteX2" fmla="*/ 10228333 w 10236425"/>
              <a:gd name="connsiteY2" fmla="*/ 1893536 h 3220630"/>
              <a:gd name="connsiteX3" fmla="*/ 3625232 w 10236425"/>
              <a:gd name="connsiteY3" fmla="*/ 1901628 h 3220630"/>
              <a:gd name="connsiteX4" fmla="*/ 3625232 w 10236425"/>
              <a:gd name="connsiteY4" fmla="*/ 3220630 h 3220630"/>
              <a:gd name="connsiteX5" fmla="*/ 0 w 10236425"/>
              <a:gd name="connsiteY5" fmla="*/ 3188262 h 3220630"/>
              <a:gd name="connsiteX6" fmla="*/ 8092 w 10236425"/>
              <a:gd name="connsiteY6" fmla="*/ 0 h 3220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36425" h="3220630">
                <a:moveTo>
                  <a:pt x="8092" y="0"/>
                </a:moveTo>
                <a:lnTo>
                  <a:pt x="10236425" y="40460"/>
                </a:lnTo>
                <a:cubicBezTo>
                  <a:pt x="10233728" y="658152"/>
                  <a:pt x="10231030" y="1275844"/>
                  <a:pt x="10228333" y="1893536"/>
                </a:cubicBezTo>
                <a:lnTo>
                  <a:pt x="3625232" y="1901628"/>
                </a:lnTo>
                <a:lnTo>
                  <a:pt x="3625232" y="3220630"/>
                </a:lnTo>
                <a:lnTo>
                  <a:pt x="0" y="3188262"/>
                </a:lnTo>
                <a:cubicBezTo>
                  <a:pt x="2697" y="2125508"/>
                  <a:pt x="5395" y="1062754"/>
                  <a:pt x="8092" y="0"/>
                </a:cubicBezTo>
                <a:close/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/>
          <p:cNvSpPr txBox="1"/>
          <p:nvPr/>
        </p:nvSpPr>
        <p:spPr>
          <a:xfrm>
            <a:off x="9297748" y="3180170"/>
            <a:ext cx="14606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BASHORAT</a:t>
            </a:r>
          </a:p>
          <a:p>
            <a:r>
              <a:rPr lang="en-US">
                <a:solidFill>
                  <a:srgbClr val="00B0F0"/>
                </a:solidFill>
              </a:rPr>
              <a:t>QILISH</a:t>
            </a:r>
          </a:p>
          <a:p>
            <a:r>
              <a:rPr lang="en-US">
                <a:solidFill>
                  <a:srgbClr val="00B0F0"/>
                </a:solidFill>
              </a:rPr>
              <a:t>GRAFIGI</a:t>
            </a:r>
            <a:endParaRPr lang="ru-RU">
              <a:solidFill>
                <a:srgbClr val="00B0F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4D407661-AC08-43C9-8783-271AFD64BCC6}" type="slidenum">
              <a:rPr lang="ru-RU" sz="3200" smtClean="0"/>
              <a:t>27</a:t>
            </a:fld>
            <a:endParaRPr lang="ru-RU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5381009" y="1536687"/>
                <a:ext cx="1375925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ru-RU" sz="320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009" y="1536687"/>
                <a:ext cx="1375925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105878" y="3422072"/>
                <a:ext cx="1375925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m:oMathPara>
                </a14:m>
                <a:endParaRPr lang="ru-RU" sz="320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8" y="3422072"/>
                <a:ext cx="1375925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1372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946098-A156-4256-B586-F691DFC3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373" y="368416"/>
            <a:ext cx="9440214" cy="678727"/>
          </a:xfrm>
        </p:spPr>
        <p:txBody>
          <a:bodyPr anchor="ctr">
            <a:noAutofit/>
          </a:bodyPr>
          <a:lstStyle/>
          <a:p>
            <a:pPr algn="ctr"/>
            <a:r>
              <a:rPr lang="en-US" sz="3600"/>
              <a:t>Xatolikni aniqlash MSE funksiyasi</a:t>
            </a:r>
            <a:endParaRPr lang="ru-RU" sz="3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09DF2F-FD19-4BE1-9A89-A444C2DDF535}"/>
              </a:ext>
            </a:extLst>
          </p:cNvPr>
          <p:cNvSpPr txBox="1"/>
          <p:nvPr/>
        </p:nvSpPr>
        <p:spPr>
          <a:xfrm>
            <a:off x="61803" y="6421556"/>
            <a:ext cx="141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 – ma'ruza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557539-1A35-4784-A3E2-80EF1CF86081}"/>
              </a:ext>
            </a:extLst>
          </p:cNvPr>
          <p:cNvSpPr txBox="1"/>
          <p:nvPr/>
        </p:nvSpPr>
        <p:spPr>
          <a:xfrm>
            <a:off x="11667545" y="6421556"/>
            <a:ext cx="462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15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7E6F21-7459-4C19-A20E-BE9536E64EC6}"/>
              </a:ext>
            </a:extLst>
          </p:cNvPr>
          <p:cNvSpPr txBox="1"/>
          <p:nvPr/>
        </p:nvSpPr>
        <p:spPr>
          <a:xfrm>
            <a:off x="1480523" y="6421556"/>
            <a:ext cx="9230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Mulohaza. Ifodalar mantiqlari. Chiziqli regressiya algoritmi.</a:t>
            </a:r>
            <a:endParaRPr lang="ru-RU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D1B5618-5D44-4FD8-9DBC-96CE6BCC34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737" y="67112"/>
            <a:ext cx="1080000" cy="108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4900958-2625-4207-8E14-66C49091BF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5" r="15748"/>
          <a:stretch/>
        </p:blipFill>
        <p:spPr>
          <a:xfrm>
            <a:off x="191263" y="167780"/>
            <a:ext cx="1096731" cy="108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Model bashorat qilgan qiymati va haqiqiy qiymat o‘rtasida qancha farq borligi aniqlanadi, eng ommabop xatolikni aniqlash funksiyasi bu kichik kvadratlar usuli bo‘lib Mean Square Error deb nomlanadi.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/>
              </a:p>
              <a:p>
                <a:pPr algn="just"/>
                <a:r>
                  <a:rPr lang="en-US"/>
                  <a:t>Bu yerda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/>
                  <a:t> – na’munalar soni ya’ni o’qitishda ishlatilgan ma’lumotlar soni,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/>
                  <a:t> - haqiqiy real dunyodagi tajriba asosida olingan javob,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/>
                  <a:t> - </a:t>
                </a:r>
                <a:r>
                  <a:rPr lang="en-US"/>
                  <a:t>model bashorat qilgan qiymat.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nary>
                  </m:oMath>
                </a14:m>
                <a:r>
                  <a:rPr lang="en-US" b="1"/>
                  <a:t> - </a:t>
                </a:r>
                <a:r>
                  <a:rPr lang="en-US"/>
                  <a:t>yig’indi degan ma’noni anglatadi.</a:t>
                </a:r>
                <a:r>
                  <a:rPr lang="en-US" b="1"/>
                  <a:t> </a:t>
                </a:r>
                <a:endParaRPr lang="ru-RU" b="1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4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EC3D0413-CFE4-46C5-A5D7-9589019B6179}" type="slidenum">
              <a:rPr lang="ru-RU" sz="3200" smtClean="0"/>
              <a:t>28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30337935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946098-A156-4256-B586-F691DFC3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373" y="368416"/>
            <a:ext cx="9440214" cy="678727"/>
          </a:xfrm>
        </p:spPr>
        <p:txBody>
          <a:bodyPr anchor="ctr">
            <a:noAutofit/>
          </a:bodyPr>
          <a:lstStyle/>
          <a:p>
            <a:pPr algn="ctr"/>
            <a:r>
              <a:rPr lang="en-US" sz="3600"/>
              <a:t>Gradient tushish funksiyasi</a:t>
            </a:r>
            <a:endParaRPr lang="ru-RU" sz="3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09DF2F-FD19-4BE1-9A89-A444C2DDF535}"/>
              </a:ext>
            </a:extLst>
          </p:cNvPr>
          <p:cNvSpPr txBox="1"/>
          <p:nvPr/>
        </p:nvSpPr>
        <p:spPr>
          <a:xfrm>
            <a:off x="61803" y="6421556"/>
            <a:ext cx="141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7 – ma'ruza</a:t>
            </a:r>
            <a:endParaRPr lang="ru-RU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557539-1A35-4784-A3E2-80EF1CF86081}"/>
              </a:ext>
            </a:extLst>
          </p:cNvPr>
          <p:cNvSpPr txBox="1"/>
          <p:nvPr/>
        </p:nvSpPr>
        <p:spPr>
          <a:xfrm>
            <a:off x="11667545" y="6421556"/>
            <a:ext cx="462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17</a:t>
            </a:r>
            <a:endParaRPr lang="ru-RU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D1B5618-5D44-4FD8-9DBC-96CE6BCC34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737" y="67112"/>
            <a:ext cx="1080000" cy="108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4900958-2625-4207-8E14-66C49091BF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5" r="15748"/>
          <a:stretch/>
        </p:blipFill>
        <p:spPr>
          <a:xfrm>
            <a:off x="191263" y="167780"/>
            <a:ext cx="1096731" cy="108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127340" y="1147112"/>
            <a:ext cx="6873397" cy="49641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757367" y="3319805"/>
                <a:ext cx="739946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367" y="3319805"/>
                <a:ext cx="739946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6557" t="-2222" r="-9836" b="-3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170857" y="5834233"/>
                <a:ext cx="107401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𝑦𝑜𝑘𝑖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0857" y="5834233"/>
                <a:ext cx="1074012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4520" r="-1130" b="-37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636630" y="1357467"/>
                <a:ext cx="3545522" cy="11113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f>
                        <m:fPr>
                          <m:ctrlP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en-US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  <m:sSub>
                            <m:sSubPr>
                              <m:ctrlPr>
                                <a:rPr lang="en-US" sz="3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sz="3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sz="3200" b="1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30" y="1357467"/>
                <a:ext cx="3545522" cy="111139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0846587" y="3604896"/>
                <a:ext cx="315471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ru-RU" sz="28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6587" y="3604896"/>
                <a:ext cx="315471" cy="43088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Полилиния 42"/>
          <p:cNvSpPr/>
          <p:nvPr/>
        </p:nvSpPr>
        <p:spPr>
          <a:xfrm>
            <a:off x="8794080" y="2184850"/>
            <a:ext cx="2648058" cy="2856488"/>
          </a:xfrm>
          <a:custGeom>
            <a:avLst/>
            <a:gdLst>
              <a:gd name="connsiteX0" fmla="*/ 2648058 w 2648058"/>
              <a:gd name="connsiteY0" fmla="*/ 0 h 2856488"/>
              <a:gd name="connsiteX1" fmla="*/ 2631874 w 2648058"/>
              <a:gd name="connsiteY1" fmla="*/ 1513210 h 2856488"/>
              <a:gd name="connsiteX2" fmla="*/ 2615690 w 2648058"/>
              <a:gd name="connsiteY2" fmla="*/ 1553670 h 2856488"/>
              <a:gd name="connsiteX3" fmla="*/ 2575230 w 2648058"/>
              <a:gd name="connsiteY3" fmla="*/ 1675051 h 2856488"/>
              <a:gd name="connsiteX4" fmla="*/ 2550954 w 2648058"/>
              <a:gd name="connsiteY4" fmla="*/ 1739787 h 2856488"/>
              <a:gd name="connsiteX5" fmla="*/ 2534770 w 2648058"/>
              <a:gd name="connsiteY5" fmla="*/ 1812615 h 2856488"/>
              <a:gd name="connsiteX6" fmla="*/ 2510493 w 2648058"/>
              <a:gd name="connsiteY6" fmla="*/ 1844984 h 2856488"/>
              <a:gd name="connsiteX7" fmla="*/ 2502401 w 2648058"/>
              <a:gd name="connsiteY7" fmla="*/ 1869260 h 2856488"/>
              <a:gd name="connsiteX8" fmla="*/ 2494309 w 2648058"/>
              <a:gd name="connsiteY8" fmla="*/ 1901628 h 2856488"/>
              <a:gd name="connsiteX9" fmla="*/ 2461941 w 2648058"/>
              <a:gd name="connsiteY9" fmla="*/ 1942088 h 2856488"/>
              <a:gd name="connsiteX10" fmla="*/ 2445757 w 2648058"/>
              <a:gd name="connsiteY10" fmla="*/ 1982548 h 2856488"/>
              <a:gd name="connsiteX11" fmla="*/ 2389113 w 2648058"/>
              <a:gd name="connsiteY11" fmla="*/ 2047285 h 2856488"/>
              <a:gd name="connsiteX12" fmla="*/ 2372929 w 2648058"/>
              <a:gd name="connsiteY12" fmla="*/ 2071561 h 2856488"/>
              <a:gd name="connsiteX13" fmla="*/ 2332469 w 2648058"/>
              <a:gd name="connsiteY13" fmla="*/ 2112021 h 2856488"/>
              <a:gd name="connsiteX14" fmla="*/ 2292008 w 2648058"/>
              <a:gd name="connsiteY14" fmla="*/ 2160573 h 2856488"/>
              <a:gd name="connsiteX15" fmla="*/ 2227272 w 2648058"/>
              <a:gd name="connsiteY15" fmla="*/ 2201033 h 2856488"/>
              <a:gd name="connsiteX16" fmla="*/ 2170628 w 2648058"/>
              <a:gd name="connsiteY16" fmla="*/ 2241493 h 2856488"/>
              <a:gd name="connsiteX17" fmla="*/ 2146352 w 2648058"/>
              <a:gd name="connsiteY17" fmla="*/ 2249585 h 2856488"/>
              <a:gd name="connsiteX18" fmla="*/ 2049247 w 2648058"/>
              <a:gd name="connsiteY18" fmla="*/ 2265769 h 2856488"/>
              <a:gd name="connsiteX19" fmla="*/ 2016879 w 2648058"/>
              <a:gd name="connsiteY19" fmla="*/ 2273862 h 2856488"/>
              <a:gd name="connsiteX20" fmla="*/ 1935959 w 2648058"/>
              <a:gd name="connsiteY20" fmla="*/ 2281954 h 2856488"/>
              <a:gd name="connsiteX21" fmla="*/ 1118663 w 2648058"/>
              <a:gd name="connsiteY21" fmla="*/ 2265769 h 2856488"/>
              <a:gd name="connsiteX22" fmla="*/ 1078203 w 2648058"/>
              <a:gd name="connsiteY22" fmla="*/ 2233401 h 2856488"/>
              <a:gd name="connsiteX23" fmla="*/ 1094387 w 2648058"/>
              <a:gd name="connsiteY23" fmla="*/ 2201033 h 2856488"/>
              <a:gd name="connsiteX24" fmla="*/ 1118663 w 2648058"/>
              <a:gd name="connsiteY24" fmla="*/ 2184849 h 2856488"/>
              <a:gd name="connsiteX25" fmla="*/ 1110571 w 2648058"/>
              <a:gd name="connsiteY25" fmla="*/ 2435702 h 2856488"/>
              <a:gd name="connsiteX26" fmla="*/ 1102479 w 2648058"/>
              <a:gd name="connsiteY26" fmla="*/ 2492346 h 2856488"/>
              <a:gd name="connsiteX27" fmla="*/ 1086295 w 2648058"/>
              <a:gd name="connsiteY27" fmla="*/ 2508531 h 2856488"/>
              <a:gd name="connsiteX28" fmla="*/ 1053927 w 2648058"/>
              <a:gd name="connsiteY28" fmla="*/ 2532807 h 2856488"/>
              <a:gd name="connsiteX29" fmla="*/ 997283 w 2648058"/>
              <a:gd name="connsiteY29" fmla="*/ 2557083 h 2856488"/>
              <a:gd name="connsiteX30" fmla="*/ 973007 w 2648058"/>
              <a:gd name="connsiteY30" fmla="*/ 2565175 h 2856488"/>
              <a:gd name="connsiteX31" fmla="*/ 892086 w 2648058"/>
              <a:gd name="connsiteY31" fmla="*/ 2581359 h 2856488"/>
              <a:gd name="connsiteX32" fmla="*/ 859718 w 2648058"/>
              <a:gd name="connsiteY32" fmla="*/ 2589451 h 2856488"/>
              <a:gd name="connsiteX33" fmla="*/ 730246 w 2648058"/>
              <a:gd name="connsiteY33" fmla="*/ 2573267 h 2856488"/>
              <a:gd name="connsiteX34" fmla="*/ 705970 w 2648058"/>
              <a:gd name="connsiteY34" fmla="*/ 2557083 h 2856488"/>
              <a:gd name="connsiteX35" fmla="*/ 689785 w 2648058"/>
              <a:gd name="connsiteY35" fmla="*/ 2540899 h 2856488"/>
              <a:gd name="connsiteX36" fmla="*/ 673601 w 2648058"/>
              <a:gd name="connsiteY36" fmla="*/ 2492346 h 2856488"/>
              <a:gd name="connsiteX37" fmla="*/ 665509 w 2648058"/>
              <a:gd name="connsiteY37" fmla="*/ 2468070 h 2856488"/>
              <a:gd name="connsiteX38" fmla="*/ 641233 w 2648058"/>
              <a:gd name="connsiteY38" fmla="*/ 2459978 h 2856488"/>
              <a:gd name="connsiteX39" fmla="*/ 649325 w 2648058"/>
              <a:gd name="connsiteY39" fmla="*/ 2484254 h 2856488"/>
              <a:gd name="connsiteX40" fmla="*/ 649325 w 2648058"/>
              <a:gd name="connsiteY40" fmla="*/ 2718923 h 2856488"/>
              <a:gd name="connsiteX41" fmla="*/ 633141 w 2648058"/>
              <a:gd name="connsiteY41" fmla="*/ 2735108 h 2856488"/>
              <a:gd name="connsiteX42" fmla="*/ 552221 w 2648058"/>
              <a:gd name="connsiteY42" fmla="*/ 2759384 h 2856488"/>
              <a:gd name="connsiteX43" fmla="*/ 374196 w 2648058"/>
              <a:gd name="connsiteY43" fmla="*/ 2727015 h 2856488"/>
              <a:gd name="connsiteX44" fmla="*/ 366104 w 2648058"/>
              <a:gd name="connsiteY44" fmla="*/ 2702739 h 2856488"/>
              <a:gd name="connsiteX45" fmla="*/ 374196 w 2648058"/>
              <a:gd name="connsiteY45" fmla="*/ 2605635 h 2856488"/>
              <a:gd name="connsiteX46" fmla="*/ 374196 w 2648058"/>
              <a:gd name="connsiteY46" fmla="*/ 2848396 h 2856488"/>
              <a:gd name="connsiteX47" fmla="*/ 349920 w 2648058"/>
              <a:gd name="connsiteY47" fmla="*/ 2856488 h 2856488"/>
              <a:gd name="connsiteX48" fmla="*/ 277092 w 2648058"/>
              <a:gd name="connsiteY48" fmla="*/ 2848396 h 2856488"/>
              <a:gd name="connsiteX49" fmla="*/ 228539 w 2648058"/>
              <a:gd name="connsiteY49" fmla="*/ 2783660 h 2856488"/>
              <a:gd name="connsiteX50" fmla="*/ 204263 w 2648058"/>
              <a:gd name="connsiteY50" fmla="*/ 2702739 h 2856488"/>
              <a:gd name="connsiteX51" fmla="*/ 196171 w 2648058"/>
              <a:gd name="connsiteY51" fmla="*/ 2629911 h 2856488"/>
              <a:gd name="connsiteX52" fmla="*/ 179987 w 2648058"/>
              <a:gd name="connsiteY52" fmla="*/ 2767476 h 2856488"/>
              <a:gd name="connsiteX53" fmla="*/ 163803 w 2648058"/>
              <a:gd name="connsiteY53" fmla="*/ 2791752 h 2856488"/>
              <a:gd name="connsiteX54" fmla="*/ 131435 w 2648058"/>
              <a:gd name="connsiteY54" fmla="*/ 2807936 h 2856488"/>
              <a:gd name="connsiteX55" fmla="*/ 90975 w 2648058"/>
              <a:gd name="connsiteY55" fmla="*/ 2791752 h 2856488"/>
              <a:gd name="connsiteX56" fmla="*/ 74791 w 2648058"/>
              <a:gd name="connsiteY56" fmla="*/ 2727015 h 2856488"/>
              <a:gd name="connsiteX57" fmla="*/ 66699 w 2648058"/>
              <a:gd name="connsiteY57" fmla="*/ 2694647 h 2856488"/>
              <a:gd name="connsiteX58" fmla="*/ 58607 w 2648058"/>
              <a:gd name="connsiteY58" fmla="*/ 2662279 h 2856488"/>
              <a:gd name="connsiteX59" fmla="*/ 50515 w 2648058"/>
              <a:gd name="connsiteY59" fmla="*/ 2629911 h 2856488"/>
              <a:gd name="connsiteX60" fmla="*/ 66699 w 2648058"/>
              <a:gd name="connsiteY60" fmla="*/ 2743200 h 2856488"/>
              <a:gd name="connsiteX61" fmla="*/ 82883 w 2648058"/>
              <a:gd name="connsiteY61" fmla="*/ 2791752 h 2856488"/>
              <a:gd name="connsiteX62" fmla="*/ 50515 w 2648058"/>
              <a:gd name="connsiteY62" fmla="*/ 2807936 h 2856488"/>
              <a:gd name="connsiteX63" fmla="*/ 18147 w 2648058"/>
              <a:gd name="connsiteY63" fmla="*/ 2621819 h 2856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2648058" h="2856488">
                <a:moveTo>
                  <a:pt x="2648058" y="0"/>
                </a:moveTo>
                <a:cubicBezTo>
                  <a:pt x="2642663" y="504403"/>
                  <a:pt x="2642381" y="1008887"/>
                  <a:pt x="2631874" y="1513210"/>
                </a:cubicBezTo>
                <a:cubicBezTo>
                  <a:pt x="2631571" y="1527732"/>
                  <a:pt x="2620489" y="1539960"/>
                  <a:pt x="2615690" y="1553670"/>
                </a:cubicBezTo>
                <a:cubicBezTo>
                  <a:pt x="2601601" y="1593925"/>
                  <a:pt x="2585574" y="1633675"/>
                  <a:pt x="2575230" y="1675051"/>
                </a:cubicBezTo>
                <a:cubicBezTo>
                  <a:pt x="2564212" y="1719122"/>
                  <a:pt x="2572112" y="1697472"/>
                  <a:pt x="2550954" y="1739787"/>
                </a:cubicBezTo>
                <a:cubicBezTo>
                  <a:pt x="2550103" y="1744043"/>
                  <a:pt x="2538579" y="1804997"/>
                  <a:pt x="2534770" y="1812615"/>
                </a:cubicBezTo>
                <a:cubicBezTo>
                  <a:pt x="2528738" y="1824678"/>
                  <a:pt x="2518585" y="1834194"/>
                  <a:pt x="2510493" y="1844984"/>
                </a:cubicBezTo>
                <a:cubicBezTo>
                  <a:pt x="2507796" y="1853076"/>
                  <a:pt x="2504744" y="1861058"/>
                  <a:pt x="2502401" y="1869260"/>
                </a:cubicBezTo>
                <a:cubicBezTo>
                  <a:pt x="2499346" y="1879953"/>
                  <a:pt x="2499710" y="1891906"/>
                  <a:pt x="2494309" y="1901628"/>
                </a:cubicBezTo>
                <a:cubicBezTo>
                  <a:pt x="2485921" y="1916726"/>
                  <a:pt x="2470827" y="1927278"/>
                  <a:pt x="2461941" y="1942088"/>
                </a:cubicBezTo>
                <a:cubicBezTo>
                  <a:pt x="2454468" y="1954544"/>
                  <a:pt x="2453230" y="1970092"/>
                  <a:pt x="2445757" y="1982548"/>
                </a:cubicBezTo>
                <a:cubicBezTo>
                  <a:pt x="2417925" y="2028935"/>
                  <a:pt x="2417859" y="2012789"/>
                  <a:pt x="2389113" y="2047285"/>
                </a:cubicBezTo>
                <a:cubicBezTo>
                  <a:pt x="2382887" y="2054756"/>
                  <a:pt x="2379333" y="2064242"/>
                  <a:pt x="2372929" y="2071561"/>
                </a:cubicBezTo>
                <a:cubicBezTo>
                  <a:pt x="2360369" y="2085915"/>
                  <a:pt x="2345140" y="2097766"/>
                  <a:pt x="2332469" y="2112021"/>
                </a:cubicBezTo>
                <a:cubicBezTo>
                  <a:pt x="2321561" y="2124293"/>
                  <a:pt x="2307578" y="2149674"/>
                  <a:pt x="2292008" y="2160573"/>
                </a:cubicBezTo>
                <a:cubicBezTo>
                  <a:pt x="2271161" y="2175166"/>
                  <a:pt x="2247629" y="2185765"/>
                  <a:pt x="2227272" y="2201033"/>
                </a:cubicBezTo>
                <a:cubicBezTo>
                  <a:pt x="2219941" y="2206531"/>
                  <a:pt x="2182461" y="2235577"/>
                  <a:pt x="2170628" y="2241493"/>
                </a:cubicBezTo>
                <a:cubicBezTo>
                  <a:pt x="2162999" y="2245308"/>
                  <a:pt x="2154627" y="2247516"/>
                  <a:pt x="2146352" y="2249585"/>
                </a:cubicBezTo>
                <a:cubicBezTo>
                  <a:pt x="2101617" y="2260769"/>
                  <a:pt x="2099499" y="2256632"/>
                  <a:pt x="2049247" y="2265769"/>
                </a:cubicBezTo>
                <a:cubicBezTo>
                  <a:pt x="2038305" y="2267759"/>
                  <a:pt x="2027889" y="2272289"/>
                  <a:pt x="2016879" y="2273862"/>
                </a:cubicBezTo>
                <a:cubicBezTo>
                  <a:pt x="1990044" y="2277696"/>
                  <a:pt x="1962932" y="2279257"/>
                  <a:pt x="1935959" y="2281954"/>
                </a:cubicBezTo>
                <a:lnTo>
                  <a:pt x="1118663" y="2265769"/>
                </a:lnTo>
                <a:cubicBezTo>
                  <a:pt x="1092095" y="2265003"/>
                  <a:pt x="1091212" y="2252915"/>
                  <a:pt x="1078203" y="2233401"/>
                </a:cubicBezTo>
                <a:cubicBezTo>
                  <a:pt x="1083598" y="2222612"/>
                  <a:pt x="1086665" y="2210300"/>
                  <a:pt x="1094387" y="2201033"/>
                </a:cubicBezTo>
                <a:cubicBezTo>
                  <a:pt x="1100613" y="2193562"/>
                  <a:pt x="1117994" y="2175147"/>
                  <a:pt x="1118663" y="2184849"/>
                </a:cubicBezTo>
                <a:cubicBezTo>
                  <a:pt x="1124419" y="2268312"/>
                  <a:pt x="1114968" y="2352156"/>
                  <a:pt x="1110571" y="2435702"/>
                </a:cubicBezTo>
                <a:cubicBezTo>
                  <a:pt x="1109569" y="2454749"/>
                  <a:pt x="1108510" y="2474252"/>
                  <a:pt x="1102479" y="2492346"/>
                </a:cubicBezTo>
                <a:cubicBezTo>
                  <a:pt x="1100066" y="2499584"/>
                  <a:pt x="1092156" y="2503647"/>
                  <a:pt x="1086295" y="2508531"/>
                </a:cubicBezTo>
                <a:cubicBezTo>
                  <a:pt x="1075934" y="2517165"/>
                  <a:pt x="1064902" y="2524968"/>
                  <a:pt x="1053927" y="2532807"/>
                </a:cubicBezTo>
                <a:cubicBezTo>
                  <a:pt x="1021077" y="2556272"/>
                  <a:pt x="1038309" y="2545361"/>
                  <a:pt x="997283" y="2557083"/>
                </a:cubicBezTo>
                <a:cubicBezTo>
                  <a:pt x="989081" y="2559426"/>
                  <a:pt x="981318" y="2563257"/>
                  <a:pt x="973007" y="2565175"/>
                </a:cubicBezTo>
                <a:cubicBezTo>
                  <a:pt x="946204" y="2571360"/>
                  <a:pt x="918773" y="2574687"/>
                  <a:pt x="892086" y="2581359"/>
                </a:cubicBezTo>
                <a:lnTo>
                  <a:pt x="859718" y="2589451"/>
                </a:lnTo>
                <a:cubicBezTo>
                  <a:pt x="839640" y="2587907"/>
                  <a:pt x="765179" y="2590734"/>
                  <a:pt x="730246" y="2573267"/>
                </a:cubicBezTo>
                <a:cubicBezTo>
                  <a:pt x="721547" y="2568918"/>
                  <a:pt x="713564" y="2563158"/>
                  <a:pt x="705970" y="2557083"/>
                </a:cubicBezTo>
                <a:cubicBezTo>
                  <a:pt x="700012" y="2552317"/>
                  <a:pt x="695180" y="2546294"/>
                  <a:pt x="689785" y="2540899"/>
                </a:cubicBezTo>
                <a:lnTo>
                  <a:pt x="673601" y="2492346"/>
                </a:lnTo>
                <a:cubicBezTo>
                  <a:pt x="670904" y="2484254"/>
                  <a:pt x="673601" y="2470767"/>
                  <a:pt x="665509" y="2468070"/>
                </a:cubicBezTo>
                <a:lnTo>
                  <a:pt x="641233" y="2459978"/>
                </a:lnTo>
                <a:cubicBezTo>
                  <a:pt x="643930" y="2468070"/>
                  <a:pt x="648028" y="2475823"/>
                  <a:pt x="649325" y="2484254"/>
                </a:cubicBezTo>
                <a:cubicBezTo>
                  <a:pt x="661477" y="2563243"/>
                  <a:pt x="660823" y="2638437"/>
                  <a:pt x="649325" y="2718923"/>
                </a:cubicBezTo>
                <a:cubicBezTo>
                  <a:pt x="648246" y="2726476"/>
                  <a:pt x="639489" y="2730876"/>
                  <a:pt x="633141" y="2735108"/>
                </a:cubicBezTo>
                <a:cubicBezTo>
                  <a:pt x="601780" y="2756016"/>
                  <a:pt x="591341" y="2752864"/>
                  <a:pt x="552221" y="2759384"/>
                </a:cubicBezTo>
                <a:cubicBezTo>
                  <a:pt x="480865" y="2755628"/>
                  <a:pt x="413839" y="2786481"/>
                  <a:pt x="374196" y="2727015"/>
                </a:cubicBezTo>
                <a:cubicBezTo>
                  <a:pt x="369465" y="2719918"/>
                  <a:pt x="368801" y="2710831"/>
                  <a:pt x="366104" y="2702739"/>
                </a:cubicBezTo>
                <a:cubicBezTo>
                  <a:pt x="368801" y="2670371"/>
                  <a:pt x="367150" y="2573928"/>
                  <a:pt x="374196" y="2605635"/>
                </a:cubicBezTo>
                <a:cubicBezTo>
                  <a:pt x="374316" y="2606176"/>
                  <a:pt x="392484" y="2802675"/>
                  <a:pt x="374196" y="2848396"/>
                </a:cubicBezTo>
                <a:cubicBezTo>
                  <a:pt x="371028" y="2856316"/>
                  <a:pt x="358012" y="2853791"/>
                  <a:pt x="349920" y="2856488"/>
                </a:cubicBezTo>
                <a:cubicBezTo>
                  <a:pt x="325644" y="2853791"/>
                  <a:pt x="299269" y="2858632"/>
                  <a:pt x="277092" y="2848396"/>
                </a:cubicBezTo>
                <a:cubicBezTo>
                  <a:pt x="267840" y="2844126"/>
                  <a:pt x="237867" y="2797651"/>
                  <a:pt x="228539" y="2783660"/>
                </a:cubicBezTo>
                <a:cubicBezTo>
                  <a:pt x="220560" y="2759723"/>
                  <a:pt x="208234" y="2723915"/>
                  <a:pt x="204263" y="2702739"/>
                </a:cubicBezTo>
                <a:cubicBezTo>
                  <a:pt x="199762" y="2678732"/>
                  <a:pt x="198868" y="2654187"/>
                  <a:pt x="196171" y="2629911"/>
                </a:cubicBezTo>
                <a:cubicBezTo>
                  <a:pt x="195439" y="2637963"/>
                  <a:pt x="188105" y="2743120"/>
                  <a:pt x="179987" y="2767476"/>
                </a:cubicBezTo>
                <a:cubicBezTo>
                  <a:pt x="176912" y="2776702"/>
                  <a:pt x="171274" y="2785526"/>
                  <a:pt x="163803" y="2791752"/>
                </a:cubicBezTo>
                <a:cubicBezTo>
                  <a:pt x="154536" y="2799474"/>
                  <a:pt x="142224" y="2802541"/>
                  <a:pt x="131435" y="2807936"/>
                </a:cubicBezTo>
                <a:cubicBezTo>
                  <a:pt x="117948" y="2802541"/>
                  <a:pt x="99305" y="2803652"/>
                  <a:pt x="90975" y="2791752"/>
                </a:cubicBezTo>
                <a:cubicBezTo>
                  <a:pt x="78220" y="2773530"/>
                  <a:pt x="80186" y="2748594"/>
                  <a:pt x="74791" y="2727015"/>
                </a:cubicBezTo>
                <a:lnTo>
                  <a:pt x="66699" y="2694647"/>
                </a:lnTo>
                <a:lnTo>
                  <a:pt x="58607" y="2662279"/>
                </a:lnTo>
                <a:cubicBezTo>
                  <a:pt x="55910" y="2651490"/>
                  <a:pt x="48942" y="2618901"/>
                  <a:pt x="50515" y="2629911"/>
                </a:cubicBezTo>
                <a:cubicBezTo>
                  <a:pt x="55910" y="2667674"/>
                  <a:pt x="54636" y="2707011"/>
                  <a:pt x="66699" y="2743200"/>
                </a:cubicBezTo>
                <a:lnTo>
                  <a:pt x="82883" y="2791752"/>
                </a:lnTo>
                <a:cubicBezTo>
                  <a:pt x="72094" y="2797147"/>
                  <a:pt x="62485" y="2806440"/>
                  <a:pt x="50515" y="2807936"/>
                </a:cubicBezTo>
                <a:cubicBezTo>
                  <a:pt x="-39423" y="2819178"/>
                  <a:pt x="18147" y="2631006"/>
                  <a:pt x="18147" y="2621819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CAF31C87-905A-45F5-9CD1-897E91D6C33B}" type="slidenum">
              <a:rPr lang="ru-RU" sz="3200" smtClean="0"/>
              <a:t>29</a:t>
            </a:fld>
            <a:endParaRPr lang="ru-RU" sz="320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630" y="2696876"/>
            <a:ext cx="3914286" cy="34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8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03203"/>
          </a:xfrm>
        </p:spPr>
        <p:txBody>
          <a:bodyPr>
            <a:normAutofit/>
          </a:bodyPr>
          <a:lstStyle/>
          <a:p>
            <a:r>
              <a:rPr lang="en-US" sz="5400"/>
              <a:t>Xatolikni o‘rtaga yurish yo‘li bilan to‘g‘irlash (backpropagation)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E2AEA9B-139B-412F-98DA-A30E9C2FCE18}" type="slidenum">
              <a:rPr lang="en-US" sz="3200" smtClean="0"/>
              <a:t>30</a:t>
            </a:fld>
            <a:endParaRPr lang="ru-RU" sz="3200"/>
          </a:p>
        </p:txBody>
      </p:sp>
      <p:sp>
        <p:nvSpPr>
          <p:cNvPr id="5" name="TextBox 4"/>
          <p:cNvSpPr txBox="1"/>
          <p:nvPr/>
        </p:nvSpPr>
        <p:spPr>
          <a:xfrm>
            <a:off x="317633" y="6279209"/>
            <a:ext cx="10171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Men ko‘chirdim, manba (</a:t>
            </a:r>
            <a:r>
              <a:rPr lang="en-US" sz="2400">
                <a:hlinkClick r:id="rId2"/>
              </a:rPr>
              <a:t>http://neuralnetworksanddeeplearning.com/chap1.html</a:t>
            </a:r>
            <a:r>
              <a:rPr lang="en-US" sz="2400"/>
              <a:t>)</a:t>
            </a:r>
            <a:endParaRPr lang="ru-RU" sz="24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137" y="2868328"/>
            <a:ext cx="8064388" cy="237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878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387700"/>
          </a:xfrm>
        </p:spPr>
        <p:txBody>
          <a:bodyPr>
            <a:normAutofit/>
          </a:bodyPr>
          <a:lstStyle/>
          <a:p>
            <a:r>
              <a:rPr lang="en-US" sz="5400"/>
              <a:t>Matematik model asosida python dasturi yaratish</a:t>
            </a:r>
            <a:br>
              <a:rPr lang="en-US" sz="5400"/>
            </a:br>
            <a:r>
              <a:rPr lang="en-US" sz="5400"/>
              <a:t>bosqichi</a:t>
            </a:r>
            <a:endParaRPr lang="ru-RU" sz="5400"/>
          </a:p>
        </p:txBody>
      </p:sp>
      <p:sp>
        <p:nvSpPr>
          <p:cNvPr id="3" name="Прямоугольник 2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E2AEA9B-139B-412F-98DA-A30E9C2FCE18}" type="slidenum">
              <a:rPr lang="en-US" sz="3200" smtClean="0"/>
              <a:t>31</a:t>
            </a:fld>
            <a:endParaRPr lang="ru-RU" sz="3200"/>
          </a:p>
        </p:txBody>
      </p:sp>
      <p:sp>
        <p:nvSpPr>
          <p:cNvPr id="4" name="Прямоугольник 3"/>
          <p:cNvSpPr/>
          <p:nvPr/>
        </p:nvSpPr>
        <p:spPr>
          <a:xfrm>
            <a:off x="664143" y="6325376"/>
            <a:ext cx="82007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Men ko‘chirdim, manba (</a:t>
            </a:r>
            <a:r>
              <a:rPr lang="en-US">
                <a:hlinkClick r:id="rId2"/>
              </a:rPr>
              <a:t>https://github.com/kaushalvivek/handwriting-recognition</a:t>
            </a:r>
            <a:r>
              <a:rPr lang="en-US"/>
              <a:t>)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1068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8317" y="56168"/>
            <a:ext cx="10515600" cy="886159"/>
          </a:xfrm>
        </p:spPr>
        <p:txBody>
          <a:bodyPr>
            <a:normAutofit/>
          </a:bodyPr>
          <a:lstStyle/>
          <a:p>
            <a:r>
              <a:rPr lang="en-US"/>
              <a:t>Sun’iy intellekt modeli kodi</a:t>
            </a:r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E2AEA9B-139B-412F-98DA-A30E9C2FCE18}" type="slidenum">
              <a:rPr lang="en-US" sz="3200" smtClean="0"/>
              <a:t>32</a:t>
            </a:fld>
            <a:endParaRPr lang="ru-RU" sz="320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17" y="846074"/>
            <a:ext cx="7866667" cy="5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9931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5488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19022" y="154004"/>
            <a:ext cx="6233159" cy="1472665"/>
          </a:xfrm>
        </p:spPr>
        <p:txBody>
          <a:bodyPr>
            <a:normAutofit/>
          </a:bodyPr>
          <a:lstStyle/>
          <a:p>
            <a:r>
              <a:rPr lang="en-US"/>
              <a:t>Qo‘l yozmalarni qayta ishlash algoritmlari</a:t>
            </a:r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E2AEA9B-139B-412F-98DA-A30E9C2FCE18}" type="slidenum">
              <a:rPr lang="en-US" sz="3200" smtClean="0"/>
              <a:t>33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30872088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64846" y="144379"/>
            <a:ext cx="9486497" cy="981777"/>
          </a:xfrm>
        </p:spPr>
        <p:txBody>
          <a:bodyPr>
            <a:normAutofit/>
          </a:bodyPr>
          <a:lstStyle/>
          <a:p>
            <a:r>
              <a:rPr lang="en-US"/>
              <a:t>Dataset yuklash va saqlash algoritmlari</a:t>
            </a:r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E2AEA9B-139B-412F-98DA-A30E9C2FCE18}" type="slidenum">
              <a:rPr lang="en-US" sz="3200" smtClean="0"/>
              <a:t>34</a:t>
            </a:fld>
            <a:endParaRPr lang="ru-RU" sz="320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684" y="1357163"/>
            <a:ext cx="8284823" cy="515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4828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64846" y="144379"/>
            <a:ext cx="9486497" cy="981777"/>
          </a:xfrm>
        </p:spPr>
        <p:txBody>
          <a:bodyPr>
            <a:normAutofit/>
          </a:bodyPr>
          <a:lstStyle/>
          <a:p>
            <a:r>
              <a:rPr lang="en-US"/>
              <a:t>Dataset yuklash va saqlash algoritmlari</a:t>
            </a:r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E2AEA9B-139B-412F-98DA-A30E9C2FCE18}" type="slidenum">
              <a:rPr lang="en-US" sz="3200" smtClean="0"/>
              <a:t>35</a:t>
            </a:fld>
            <a:endParaRPr lang="ru-RU" sz="320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684" y="1357163"/>
            <a:ext cx="8284823" cy="515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861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387700"/>
          </a:xfrm>
        </p:spPr>
        <p:txBody>
          <a:bodyPr>
            <a:normAutofit/>
          </a:bodyPr>
          <a:lstStyle/>
          <a:p>
            <a:r>
              <a:rPr lang="en-US" sz="5400"/>
              <a:t>Ma’lumotlar asosida sun’iy intellekt modelini tayyorlash</a:t>
            </a:r>
            <a:br>
              <a:rPr lang="en-US" sz="5400"/>
            </a:br>
            <a:r>
              <a:rPr lang="en-US" sz="5400"/>
              <a:t>bosqichi</a:t>
            </a:r>
            <a:endParaRPr lang="ru-RU" sz="5400"/>
          </a:p>
        </p:txBody>
      </p:sp>
      <p:sp>
        <p:nvSpPr>
          <p:cNvPr id="3" name="Прямоугольник 2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E2AEA9B-139B-412F-98DA-A30E9C2FCE18}" type="slidenum">
              <a:rPr lang="en-US" sz="3200" smtClean="0"/>
              <a:t>36</a:t>
            </a:fld>
            <a:endParaRPr lang="ru-RU" sz="3200"/>
          </a:p>
        </p:txBody>
      </p:sp>
      <p:sp>
        <p:nvSpPr>
          <p:cNvPr id="5" name="TextBox 4"/>
          <p:cNvSpPr txBox="1"/>
          <p:nvPr/>
        </p:nvSpPr>
        <p:spPr>
          <a:xfrm>
            <a:off x="838200" y="3080084"/>
            <a:ext cx="906876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Learning rate = 1.0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Epochs = 500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Layers = [784, 64, 64, 10]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Batch </a:t>
            </a:r>
            <a:r>
              <a:rPr lang="en-US" sz="2800">
                <a:latin typeface="Consolas" panose="020B0609020204030204" pitchFamily="49" charset="0"/>
              </a:rPr>
              <a:t>= 128</a:t>
            </a:r>
            <a:endParaRPr lang="en-US" sz="2800" dirty="0">
              <a:latin typeface="Consolas" panose="020B0609020204030204" pitchFamily="49" charset="0"/>
            </a:endParaRPr>
          </a:p>
          <a:p>
            <a:endParaRPr lang="en-US" sz="2800" dirty="0"/>
          </a:p>
          <a:p>
            <a:r>
              <a:rPr lang="en-US" sz="2800" dirty="0" err="1"/>
              <a:t>Yuqorida</a:t>
            </a:r>
            <a:r>
              <a:rPr lang="en-US" sz="2800" dirty="0"/>
              <a:t> </a:t>
            </a:r>
            <a:r>
              <a:rPr lang="en-US" sz="2800" dirty="0" err="1"/>
              <a:t>berilgan</a:t>
            </a:r>
            <a:r>
              <a:rPr lang="en-US" sz="2800" dirty="0"/>
              <a:t> </a:t>
            </a:r>
            <a:r>
              <a:rPr lang="en-US" sz="2800" dirty="0" err="1"/>
              <a:t>parametrlar</a:t>
            </a:r>
            <a:r>
              <a:rPr lang="en-US" sz="2800" dirty="0"/>
              <a:t> </a:t>
            </a:r>
            <a:r>
              <a:rPr lang="en-US" sz="2800" dirty="0" err="1"/>
              <a:t>asosida</a:t>
            </a:r>
            <a:r>
              <a:rPr lang="en-US" sz="2800" dirty="0"/>
              <a:t> 2 ta model </a:t>
            </a:r>
            <a:r>
              <a:rPr lang="en-US" sz="2800" dirty="0" err="1"/>
              <a:t>tayyorlandi</a:t>
            </a:r>
            <a:r>
              <a:rPr lang="en-US" sz="2800" dirty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945418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407073" y="6162085"/>
            <a:ext cx="784927" cy="6959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9E2AEA9B-139B-412F-98DA-A30E9C2FCE18}" type="slidenum">
              <a:rPr lang="en-US" sz="3200" smtClean="0"/>
              <a:t>37</a:t>
            </a:fld>
            <a:endParaRPr lang="ru-RU" sz="32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5D5F67-0D7D-44DC-BE3F-2E2A580F1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006" y="326254"/>
            <a:ext cx="8273987" cy="620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4488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3869356"/>
          </a:xfrm>
        </p:spPr>
        <p:txBody>
          <a:bodyPr>
            <a:normAutofit/>
          </a:bodyPr>
          <a:lstStyle/>
          <a:p>
            <a:r>
              <a:rPr lang="en-US" sz="5400"/>
              <a:t>Dasturiy modelni tekshirish tayyorlangan demo dastur asosida</a:t>
            </a:r>
            <a:br>
              <a:rPr lang="en-US" sz="5400"/>
            </a:br>
            <a:br>
              <a:rPr lang="en-US" sz="5400"/>
            </a:br>
            <a:r>
              <a:rPr lang="en-US" sz="5400"/>
              <a:t>TAQDIMOT YAKUNLANDI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272594"/>
            <a:ext cx="9144000" cy="2349587"/>
          </a:xfrm>
        </p:spPr>
        <p:txBody>
          <a:bodyPr>
            <a:noAutofit/>
          </a:bodyPr>
          <a:lstStyle/>
          <a:p>
            <a:r>
              <a:rPr lang="en-US" sz="3600"/>
              <a:t>Axborot texnologiyalari kafedrasi o’qituvchisi</a:t>
            </a:r>
          </a:p>
          <a:p>
            <a:r>
              <a:rPr lang="en-US" sz="3600"/>
              <a:t>Mahmudov Muhamadxon</a:t>
            </a:r>
            <a:br>
              <a:rPr lang="en-US" sz="3600"/>
            </a:br>
            <a:br>
              <a:rPr lang="en-US" sz="3600"/>
            </a:br>
            <a:r>
              <a:rPr lang="en-US" sz="3600"/>
              <a:t>ETIBORINGIZ UCHUN RAHMAT</a:t>
            </a:r>
            <a:endParaRPr lang="ru-RU" sz="360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49B4E8-0A75-4629-9961-0B1A9FBEED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5" r="15748"/>
          <a:stretch/>
        </p:blipFill>
        <p:spPr>
          <a:xfrm>
            <a:off x="0" y="0"/>
            <a:ext cx="1096731" cy="108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ADC77F-58AF-4DAF-B4B9-5D0E62E25B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266925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Times New Roma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1114</Words>
  <Application>Microsoft Office PowerPoint</Application>
  <PresentationFormat>Широкоэкранный</PresentationFormat>
  <Paragraphs>187</Paragraphs>
  <Slides>38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5" baseType="lpstr">
      <vt:lpstr>Arial</vt:lpstr>
      <vt:lpstr>Calibri</vt:lpstr>
      <vt:lpstr>Cambria Math</vt:lpstr>
      <vt:lpstr>Consolas</vt:lpstr>
      <vt:lpstr>Times New Roman</vt:lpstr>
      <vt:lpstr>Wingdings</vt:lpstr>
      <vt:lpstr>Тема Office</vt:lpstr>
      <vt:lpstr>Qo‘lda yozilgan raqamlarni neyron tarmoqlar yordamida aniqlovchi model qurish</vt:lpstr>
      <vt:lpstr>Maqsad</vt:lpstr>
      <vt:lpstr>Vazifalar</vt:lpstr>
      <vt:lpstr>Ish rejasi</vt:lpstr>
      <vt:lpstr>Ma’lumotlarni tayyorlash bosqichi</vt:lpstr>
      <vt:lpstr>Qo‘lda yozilgan raqamlarni yozish andozasi</vt:lpstr>
      <vt:lpstr>Yozmalarni raqamlashtirish sxemasi</vt:lpstr>
      <vt:lpstr>1. Yozmalarni to‘plash</vt:lpstr>
      <vt:lpstr>2. Yozmalarni skaner yordamida raqamlashtirish</vt:lpstr>
      <vt:lpstr>3. Raqamlashtirilgan yozmalardan raqamlar yozilgan jadvalni ajratib olish</vt:lpstr>
      <vt:lpstr>Jadvlarlar xar xiligini yechimi</vt:lpstr>
      <vt:lpstr>Jadval burchaklarini toppish algoritmi</vt:lpstr>
      <vt:lpstr>Raqamlar jadvalini qirqib olingan holati.</vt:lpstr>
      <vt:lpstr>Raqamlar jadvalini oq-qora shaklda tayyorlash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Matematik model yaratish yoki foydalanish bosqichi</vt:lpstr>
      <vt:lpstr>Perseptron tuzilishi</vt:lpstr>
      <vt:lpstr>Sigmoid funksiya</vt:lpstr>
      <vt:lpstr>y=W∗x+b</vt:lpstr>
      <vt:lpstr>Презентация PowerPoint</vt:lpstr>
      <vt:lpstr>NEYRON MODELDAGI O’ZGARUVCHI VA FUNKSIYALAR BELGILANISHLARI</vt:lpstr>
      <vt:lpstr>NEYRON MODEL TUZILISHI</vt:lpstr>
      <vt:lpstr>Xatolikni aniqlash MSE funksiyasi</vt:lpstr>
      <vt:lpstr>Gradient tushish funksiyasi</vt:lpstr>
      <vt:lpstr>Xatolikni o‘rtaga yurish yo‘li bilan to‘g‘irlash (backpropagation)</vt:lpstr>
      <vt:lpstr>Matematik model asosida python dasturi yaratish bosqichi</vt:lpstr>
      <vt:lpstr>Sun’iy intellekt modeli kodi</vt:lpstr>
      <vt:lpstr>Qo‘l yozmalarni qayta ishlash algoritmlari</vt:lpstr>
      <vt:lpstr>Dataset yuklash va saqlash algoritmlari</vt:lpstr>
      <vt:lpstr>Dataset yuklash va saqlash algoritmlari</vt:lpstr>
      <vt:lpstr>Ma’lumotlar asosida sun’iy intellekt modelini tayyorlash bosqichi</vt:lpstr>
      <vt:lpstr>Презентация PowerPoint</vt:lpstr>
      <vt:lpstr>Dasturiy modelni tekshirish tayyorlangan demo dastur asosida  TAQDIMOT YAKUNLANDI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Qo’lda yozilgan raqamlarni neyron tarmoqlar yordamida aniqlovchi model qurish</dc:title>
  <dc:creator>Учетная запись Майкрософт</dc:creator>
  <cp:lastModifiedBy>Muhamadxon Mahmudov</cp:lastModifiedBy>
  <cp:revision>49</cp:revision>
  <dcterms:created xsi:type="dcterms:W3CDTF">2025-03-21T14:33:21Z</dcterms:created>
  <dcterms:modified xsi:type="dcterms:W3CDTF">2025-03-22T04:42:12Z</dcterms:modified>
</cp:coreProperties>
</file>